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Relationship Id="rId10" Type="http://schemas.openxmlformats.org/officeDocument/2006/relationships/slide" Target="slides/slide3.xml"/>
<Relationship Id="rId11" Type="http://schemas.openxmlformats.org/officeDocument/2006/relationships/slide" Target="slides/slide4.xml"/>
<Relationship Id="rId12" Type="http://schemas.openxmlformats.org/officeDocument/2006/relationships/slide" Target="slides/slide5.xml"/>
<Relationship Id="rId13" Type="http://schemas.openxmlformats.org/officeDocument/2006/relationships/slide" Target="slides/slide6.xml"/>
<Relationship Id="rId14" Type="http://schemas.openxmlformats.org/officeDocument/2006/relationships/slide" Target="slides/slide7.xml"/>
<Relationship Id="rId15" Type="http://schemas.openxmlformats.org/officeDocument/2006/relationships/slide" Target="slides/slide8.xml"/>
<Relationship Id="rId16" Type="http://schemas.openxmlformats.org/officeDocument/2006/relationships/slide" Target="slides/slide9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CADCFC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CADCFC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  <p:sp>
        <p:nvSpPr>
          <p:cNvPr id="900" name="Accent Bar Top"/>
          <p:cNvSpPr/>
          <p:nvPr/>
        </p:nvSpPr>
        <p:spPr>
          <a:xfrm>
            <a:off x="0" y="0"/>
            <a:ext cx="12192000" cy="46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/>
        </p:txBody>
      </p:sp>
      <p:sp>
        <p:nvSpPr>
          <p:cNvPr id="901" name="Accent Bar Bottom"/>
          <p:cNvSpPr/>
          <p:nvPr/>
        </p:nvSpPr>
        <p:spPr>
          <a:xfrm>
            <a:off x="0" y="6804000"/>
            <a:ext cx="12192000" cy="19000"/>
          </a:xfrm>
          <a:prstGeom prst="rect">
            <a:avLst/>
          </a:prstGeom>
          <a:solidFill>
            <a:srgbClr val="C9A24B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3600" kern="1200" b="1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3.xml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6828daa14e9c96a364be5a86bfa75612be277695.png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e0562e5d8c67f6d84f52d2574c12fd87445803cc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94135198308198059b1c3633e05809d0e510163e.png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6.xml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3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>Reporte de Ventas Anual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Análsis de desempeño comercial | Datos simulados con fines pedagógicos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r>
              <a:rPr/>
              <a:t>Resumen Ejecutivo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/>
          <a:lstStyle/>
          <a:p>
            <a:r>
              <a:rPr/>
              <a:t>Principales indicadores del año fiscal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Indicadores clave (KPI's)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1371600" y="1828800"/>
            <a:ext cx="3931920" cy="8229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4000" i="0" b="1" u="none" strike="noStrike">
                <a:solidFill>
                  <a:srgbClr val="1E2761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$571K</a:t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1371600" y="2606040"/>
            <a:ext cx="393192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3B3B3B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Ventas totales 2026</a:t>
            </a:r>
          </a:p>
        </p:txBody>
      </p:sp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5943600" y="1828800"/>
            <a:ext cx="3931920" cy="8229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4000" i="0" b="1" u="none" strike="noStrike">
                <a:solidFill>
                  <a:srgbClr val="1E2761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+18%</a:t>
            </a:r>
          </a:p>
        </p:txBody>
      </p:sp>
      <p:sp>
        <p:nvSpPr>
          <p:cNvPr id="6" name=""/>
          <p:cNvSpPr>
            <a:spLocks noGrp="1"/>
          </p:cNvSpPr>
          <p:nvPr>
            <p:ph/>
          </p:nvPr>
        </p:nvSpPr>
        <p:spPr>
          <a:xfrm>
            <a:off x="5943600" y="2606040"/>
            <a:ext cx="393192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3B3B3B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Crecimiento YoY</a:t>
            </a:r>
          </a:p>
        </p:txBody>
      </p:sp>
      <p:sp>
        <p:nvSpPr>
          <p:cNvPr id="7" name=""/>
          <p:cNvSpPr>
            <a:spLocks noGrp="1"/>
          </p:cNvSpPr>
          <p:nvPr>
            <p:ph/>
          </p:nvPr>
        </p:nvSpPr>
        <p:spPr>
          <a:xfrm>
            <a:off x="1371600" y="3931920"/>
            <a:ext cx="3931920" cy="8229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4000" i="0" b="1" u="none" strike="noStrike">
                <a:solidFill>
                  <a:srgbClr val="1E2761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$2,850</a:t>
            </a:r>
          </a:p>
        </p:txBody>
      </p:sp>
      <p:sp>
        <p:nvSpPr>
          <p:cNvPr id="8" name=""/>
          <p:cNvSpPr>
            <a:spLocks noGrp="1"/>
          </p:cNvSpPr>
          <p:nvPr>
            <p:ph/>
          </p:nvPr>
        </p:nvSpPr>
        <p:spPr>
          <a:xfrm>
            <a:off x="1371600" y="4709160"/>
            <a:ext cx="393192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3B3B3B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Ticket promedio</a:t>
            </a:r>
          </a:p>
        </p:txBody>
      </p:sp>
      <p:sp>
        <p:nvSpPr>
          <p:cNvPr id="9" name=""/>
          <p:cNvSpPr>
            <a:spLocks noGrp="1"/>
          </p:cNvSpPr>
          <p:nvPr>
            <p:ph/>
          </p:nvPr>
        </p:nvSpPr>
        <p:spPr>
          <a:xfrm>
            <a:off x="5943600" y="3931920"/>
            <a:ext cx="3931920" cy="8229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4000" i="0" b="1" u="none" strike="noStrike">
                <a:solidFill>
                  <a:srgbClr val="1E2761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342</a:t>
            </a:r>
          </a:p>
        </p:txBody>
      </p:sp>
      <p:sp>
        <p:nvSpPr>
          <p:cNvPr id="10" name=""/>
          <p:cNvSpPr>
            <a:spLocks noGrp="1"/>
          </p:cNvSpPr>
          <p:nvPr>
            <p:ph/>
          </p:nvPr>
        </p:nvSpPr>
        <p:spPr>
          <a:xfrm>
            <a:off x="5943600" y="4709160"/>
            <a:ext cx="393192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3B3B3B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Clientes nuevos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Tendencia de ventas trimestrales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640080" y="1737360"/>
            <a:ext cx="77724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Ventas por región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640080" y="1737360"/>
            <a:ext cx="77724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Distribución por línea de producto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91440" y="1828800"/>
            <a:ext cx="5943600" cy="2926080"/>
          </a:xfrm>
          <a:prstGeom prst="rect">
            <a:avLst/>
          </a:prstGeom>
        </p:spPr>
      </p:pic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5486400" y="2286000"/>
          <a:ext cx="3931920" cy="2194560"/>
        </p:xfrm>
        <a:graphic>
          <a:graphicData uri="http://schemas.openxmlformats.org/drawingml/2006/table">
            <a:tbl>
              <a:tblPr/>
              <a:tblGrid>
                <a:gridCol w="812070"/>
                <a:gridCol w="1417323"/>
              </a:tblGrid>
              <a:tr h="40513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Región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27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Total (miles USD)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2761">
                        <a:alpha val="10000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Norte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ADC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ADCFC">
                        <a:alpha val="10000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Centro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ADC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ADCFC">
                        <a:alpha val="100000"/>
                      </a:srgbClr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Occiente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Detalle de ventas por región y trimestre</a:t>
            </a:r>
          </a:p>
        </p:txBody>
      </p:sp>
      <p:graphicFrame>
        <p:nvGraphicFramePr>
          <p:cNvPr id="3" name=""/>
          <p:cNvGraphicFramePr>
            <a:graphicFrameLocks noGrp="true"/>
          </p:cNvGraphicFramePr>
          <p:nvPr/>
        </p:nvGraphicFramePr>
        <p:xfrm rot="0">
          <a:off x="640080" y="1828800"/>
          <a:ext cx="7863840" cy="2926080"/>
        </p:xfrm>
        <a:graphic>
          <a:graphicData uri="http://schemas.openxmlformats.org/drawingml/2006/table">
            <a:tbl>
              <a:tblPr/>
              <a:tblGrid>
                <a:gridCol w="1371600"/>
                <a:gridCol w="1005840"/>
                <a:gridCol w="1005840"/>
                <a:gridCol w="1005840"/>
                <a:gridCol w="1005840"/>
                <a:gridCol w="2743200"/>
              </a:tblGrid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Región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27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Q1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27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Q2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27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Q3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27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Q4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27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Total (miles UDS)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2761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Norte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ADC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38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ADC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44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ADC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46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ADC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52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ADC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180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ADCFC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Centro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34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40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42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44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160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Sur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ADC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30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ADC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36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ADC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34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ADC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40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ADC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140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ADCFC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Occiente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25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32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91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Hallazgos y recomendaciones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cap="none" sz="1600" i="0" b="1" u="none" strike="noStrike">
                <a:solidFill>
                  <a:srgbClr val="1E2761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Crecimiento sostenido: </a:t>
            </a:r>
            <a:r>
              <a:rPr cap="none" sz="1400" i="0" b="0" u="none" strike="noStrike">
                <a:solidFill>
                  <a:srgbClr val="3B3B3B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las ventas subieron cada trimestre salvo un ligero ajuste en Q3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cap="none" sz="1600" i="0" b="1" u="none" strike="noStrike">
                <a:solidFill>
                  <a:srgbClr val="1E2761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Norte lidera la región: </a:t>
            </a:r>
            <a:r>
              <a:rPr cap="none" sz="1400" i="0" b="0" u="none" strike="noStrike">
                <a:solidFill>
                  <a:srgbClr val="3B3B3B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concentra el 32% de las ventas totales; Occiente tiene el mayor margen de mejora.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cap="none" sz="1600" i="0" b="1" u="none" strike="noStrike">
                <a:solidFill>
                  <a:srgbClr val="1E2761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Software es el producto estrella: </a:t>
            </a:r>
            <a:r>
              <a:rPr cap="none" sz="1400" i="0" b="0" u="none" strike="noStrike">
                <a:solidFill>
                  <a:srgbClr val="3B3B3B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representa el 44% del total; se recomienda reforzar su equipo comercial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r>
              <a:rPr/>
              <a:t>Gracias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/>
          <a:lstStyle/>
          <a:p>
            <a:r>
              <a:rPr/>
              <a:t>Preguntas y discusión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2026-09-04T21:04:29Z</dcterms:modified>
  <cp:category/>
</cp:coreProperties>
</file>