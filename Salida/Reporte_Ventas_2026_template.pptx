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1" d="100"/>
          <a:sy n="81" d="100"/>
        </p:scale>
        <p:origin x="594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Relationship Id="rId7" Type="http://schemas.openxmlformats.org/officeDocument/2006/relationships/slide" Target="slides/slide2.xml"/>
<Relationship Id="rId8" Type="http://schemas.openxmlformats.org/officeDocument/2006/relationships/slide" Target="slides/slide3.xml"/>
<Relationship Id="rId9" Type="http://schemas.openxmlformats.org/officeDocument/2006/relationships/slide" Target="slides/slide4.xml"/>
<Relationship Id="rId10" Type="http://schemas.openxmlformats.org/officeDocument/2006/relationships/slide" Target="slides/slide5.xml"/>
<Relationship Id="rId11" Type="http://schemas.openxmlformats.org/officeDocument/2006/relationships/slide" Target="slides/slide6.xml"/>
<Relationship Id="rId12" Type="http://schemas.openxmlformats.org/officeDocument/2006/relationships/slide" Target="slides/slide7.xml"/>
<Relationship Id="rId13" Type="http://schemas.openxmlformats.org/officeDocument/2006/relationships/slide" Target="slides/slide8.xml"/>
<Relationship Id="rId14" Type="http://schemas.openxmlformats.org/officeDocument/2006/relationships/slide" Target="slides/slide9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6828daa14e9c96a364be5a86bfa75612be277695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e0562e5d8c67f6d84f52d2574c12fd87445803cc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94135198308198059b1c3633e05809d0e510163e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/>
          <a:lstStyle/>
          <a:p>
            <a:r>
              <a:rPr/>
              <a:t>Reporte de Ventas Anual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1" b="0" u="none" strike="noStrike">
                <a:solidFill>
                  <a:srgbClr val="1E276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Análsis de desempeño comercial | Datos simulados con fines pedagógicos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/>
          <a:lstStyle/>
          <a:p>
            <a:r>
              <a:rPr/>
              <a:t>Resumen Ejecutivo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/>
          <a:lstStyle/>
          <a:p>
            <a:r>
              <a:rPr/>
              <a:t>Principales indicadores del año fiscal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/>
              <a:t>Indicadores clave (KPI's)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0" y="1828800"/>
            <a:ext cx="393192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i="0" b="1" u="none" strike="noStrike">
                <a:solidFill>
                  <a:srgbClr val="1E276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$571K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0" y="2606040"/>
            <a:ext cx="393192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3B3B3B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Ventas totales 2026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8229600" y="1828800"/>
            <a:ext cx="393192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i="0" b="1" u="none" strike="noStrike">
                <a:solidFill>
                  <a:srgbClr val="1E276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+18%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8229600" y="2606040"/>
            <a:ext cx="393192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3B3B3B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Crecimiento YoY</a:t>
            </a:r>
          </a:p>
        </p:txBody>
      </p:sp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4572000" y="3931920"/>
            <a:ext cx="393192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i="0" b="1" u="none" strike="noStrike">
                <a:solidFill>
                  <a:srgbClr val="1E276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$2,850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4572000" y="4709160"/>
            <a:ext cx="393192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3B3B3B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Ticket promedio</a:t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8229600" y="3931920"/>
            <a:ext cx="393192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i="0" b="1" u="none" strike="noStrike">
                <a:solidFill>
                  <a:srgbClr val="1E276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342</a:t>
            </a:r>
          </a:p>
        </p:txBody>
      </p:sp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8229600" y="4709160"/>
            <a:ext cx="393192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3B3B3B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Clientes nuevos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/>
              <a:t>Tendencia de ventas trimestrales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657600" y="1737360"/>
            <a:ext cx="7772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/>
              <a:t>Ventas por región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657600" y="1737360"/>
            <a:ext cx="7772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/>
              <a:t>Distribución por línea de producto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657600" y="1828800"/>
            <a:ext cx="5943600" cy="2926080"/>
          </a:xfrm>
          <a:prstGeom prst="rect">
            <a:avLst/>
          </a:prstGeom>
        </p:spPr>
      </p:pic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9144000" y="2286000"/>
          <a:ext cx="3931920" cy="2194560"/>
        </p:xfrm>
        <a:graphic>
          <a:graphicData uri="http://schemas.openxmlformats.org/drawingml/2006/table">
            <a:tbl>
              <a:tblPr/>
              <a:tblGrid>
                <a:gridCol w="812070"/>
                <a:gridCol w="1417323"/>
              </a:tblGrid>
              <a:tr h="40513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Región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27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Total (miles USD)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2761">
                        <a:alpha val="10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Norte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Centro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Occiente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/>
              <a:t>Detalle de ventas por región y trimestre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3657600" y="1828800"/>
          <a:ext cx="7863840" cy="292608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005840"/>
                <a:gridCol w="1005840"/>
                <a:gridCol w="100584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Región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27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Q1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27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Q2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27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Q3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27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Q4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276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Total (miles UDS)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276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Norte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38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44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46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180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Centro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34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40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42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44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160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Sur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30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36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34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40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140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ADCFC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Occiente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32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cap="none" sz="20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91</a:t>
                      </a:r>
                    </a:p>
                  </a:txBody>
                  <a:tcPr anchor="ctr" marB="152400" marT="152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/>
              <a:t>Hallazgos y recomendaciones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cap="none" sz="1600" i="0" b="1" u="none" strike="noStrike">
                <a:solidFill>
                  <a:srgbClr val="1E276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Crecimiento sostenido: </a:t>
            </a:r>
            <a:r>
              <a:rPr cap="none" sz="1400" i="0" b="0" u="none" strike="noStrike">
                <a:solidFill>
                  <a:srgbClr val="3B3B3B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las ventas subieron cada trimestre salvo un ligero ajuste en Q3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cap="none" sz="1600" i="0" b="1" u="none" strike="noStrike">
                <a:solidFill>
                  <a:srgbClr val="1E276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Norte lidera la región: </a:t>
            </a:r>
            <a:r>
              <a:rPr cap="none" sz="1400" i="0" b="0" u="none" strike="noStrike">
                <a:solidFill>
                  <a:srgbClr val="3B3B3B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concentra el 32% de las ventas totales; Occiente tiene el mayor margen de mejora.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cap="none" sz="1600" i="0" b="1" u="none" strike="noStrike">
                <a:solidFill>
                  <a:srgbClr val="1E276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Software es el producto estrella: </a:t>
            </a:r>
            <a:r>
              <a:rPr cap="none" sz="1400" i="0" b="0" u="none" strike="noStrike">
                <a:solidFill>
                  <a:srgbClr val="3B3B3B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representa el 44% del total; se recomienda reforzar su equipo comercial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/>
          <a:lstStyle/>
          <a:p>
            <a:r>
              <a:rPr/>
              <a:t>Gracias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/>
          <a:lstStyle/>
          <a:p>
            <a:r>
              <a:rPr/>
              <a:t>Preguntas y discusión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co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0</vt:i4>
      </vt:variant>
    </vt:vector>
  </HeadingPairs>
  <TitlesOfParts>
    <vt:vector size="3" baseType="lpstr">
      <vt:lpstr>Corbel</vt:lpstr>
      <vt:lpstr>Wingdings 2</vt:lpstr>
      <vt:lpstr>Marco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>MORALES ALBERTO ALEXIS ADONAI</dc:creator>
  <cp:lastModifiedBy/>
  <cp:revision>1</cp:revision>
  <dcterms:created xsi:type="dcterms:W3CDTF">2026-09-04T03:42:36Z</dcterms:created>
  <dcterms:modified xsi:type="dcterms:W3CDTF">2026-09-03T21:53:20Z</dcterms:modified>
</cp:coreProperties>
</file>